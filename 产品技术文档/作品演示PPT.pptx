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</a:rPr>
              <a:t>AI 龙虾智能体平台 · 教育 Skill 创新设计大赛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LegalGuardian 法律守卫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19202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>
                <a:solidFill>
                  <a:srgbClr val="E8ECF4"/>
                </a:solidFill>
                <a:latin typeface="微软雅黑"/>
                <a:ea typeface="微软雅黑"/>
              </a:rPr>
              <a:t>面向法学教育的 AI 法律输出审核 · 纠正 · 评估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A7B4C8"/>
                </a:solidFill>
                <a:latin typeface="微软雅黑"/>
                <a:ea typeface="微软雅黑"/>
              </a:rPr>
              <a:t>24 种失效模式检测 · 8 大题型评估 · 教学大纲合规审核 · 5,515 案例库检索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064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D6DEEA"/>
                </a:solidFill>
                <a:latin typeface="微软雅黑"/>
                <a:ea typeface="微软雅黑"/>
              </a:rPr>
              <a:t>西南民族大学法学院参赛团队　　|　　v4.3.0　　|　　2026-08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635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11556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实证研究：AI 法律工具的系统性失效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五模块闭环：检测 · 纠正 · 安全 · 评分 · 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5727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7556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技术实现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7614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国产模型基座 + AI 龙虾智能体平台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技术创新点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实证知识库 · 题型特化 · 案例检索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教育应用场景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教学 · 学习 · 评价与科研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3630168"/>
            <a:ext cx="35295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81304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4361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6355C"/>
                </a:solidFill>
                <a:latin typeface="微软雅黑"/>
                <a:ea typeface="微软雅黑"/>
              </a:rPr>
              <a:t>实施效果与展望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8188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性能实测 · 校准评级 · 未来规划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实证研究揭示：AI 法律工具存在系统性失效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西南民族大学法学院团队 2026年5月 · DeepSeek / 千问 Qwen · 14 案例 × 2 轮 × 4 维测评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千问 · 虚构法条识别率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AI 接受虚构法律为真实（"人格权侵害惩治条例"），不标注废止/修订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DS · 量刑预测误差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许某某案预测 3.5 年 → 实际 6 年；AI 系统性低估刑期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2.96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DS · 引导性得分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指出"问题在哪"，但不告诉"怎么解决"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920240"/>
            <a:ext cx="2724912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2084831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C9A227"/>
                </a:solidFill>
                <a:latin typeface="微软雅黑"/>
                <a:ea typeface="微软雅黑"/>
              </a:rPr>
              <a:t>1.70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743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千问 · 引导性得分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127248"/>
            <a:ext cx="23957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四维测评中最弱维度，用户最容易踩坑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致命组合：准确性危机 × 深度缺失 × 引导性不足 × 前提验证盲区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"浅度正确"：结论正确但缺乏深度法理分析；AI 天然相信用户前提；同一回答对法学生与非专业人士风险完全不同。24 种失效模式（F1-F24）被证实系统性存在 —— 需要"第三方审核"。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版本迭代：21 天 · 8 个版本 · 全程可查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GitHub 开源仓库 phillnarsoeer/legal-guardian —— v1.0.0 → v4.3.0 八次里程碑标记，迭代过程完整可追溯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数据奠基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v1.0.0 → v2.0.0 ｜ 07-29 ~ 07-30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AI 法律对话实证校正框架创立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900 案例 / 1,800 QA / 900 RAG 块 / 71 案由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规模跃升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v3.0.0 ｜ 07-31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人民法院案例库 5,515 案例 / 535 案由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27,575 问答对，RAG 案例检索上线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91640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能力成型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1305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v4.0.0 ｜ 07-31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5146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18 种失效模式 + 8 大题型评分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法考真题校准 + 训练语料（1,800 QA）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体系扩展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v4.1.0 ｜ 08-03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F1-F24 全体系 / 教学大纲合规审核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项安全检查 / 竞赛场景匹配；基准 16 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质量攻坚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v4.2.0 → v4.2.1 ｜ 08-05 ~ 08-17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JSON 模块级缓存 / 正则单遍扫描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主观题归一化 / 废止法红线修复 / 死代码清理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630168"/>
            <a:ext cx="363931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7673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简洁精进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069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v4.3.0 ｜ 08-17（冒烟全绿 08-19）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红线统一 / 全量校准 C→A / 包 14MB→0.16MB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案例检索 + 三维规制 + 可视化报告面板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42432"/>
            <a:ext cx="1072591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迭代方法论：实证驱动 · 数据为王 · 质量优先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语料 900 → 5,515 案例（6.1×）；失效模式 18 → 24；冒烟 39 → 41 项全绿 —— 每一次迭代都对齐实证基线，可验证、可追溯（GitHub tags 全程留痕）。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01 背景与需求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五类用户 · 三大校园场景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0866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/>
                <a:gridCol w="4251960"/>
                <a:gridCol w="10515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用户类型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核心需求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法学本科生 / 研究生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深度法理分析、失效模式识别训练、AI 辅助作业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法学教师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教学材料审核、AI 输出验证、作业批改辅助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中低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非专业社会人士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通俗解释、醒目风险警示、律师咨询引导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AI 工具开发者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三维规制符合性评估、失效模式诊断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教务管理者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教学大纲合规审核、教学质量多维评价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6916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19288" y="1856232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智慧教学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教学大纲合规审核 · 作业智能批改 · 智能考试管理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2918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3456432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智慧学习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回答审核 · 提问优化 · 失效模式识别训练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92040"/>
            <a:ext cx="3867912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5056631"/>
            <a:ext cx="3465576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智慧评价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教学质量评价 · 课程目标达成度 · 合规审核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925312"/>
            <a:ext cx="10725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核心矛盾：AI 越"好用"，越需要第三方审核 —— 法律 AI 输出可信度成为教育场景的刚性需求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五大模块闭环：检测 → 纠正 → 安全 → 评分 → 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审核纠正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24 模式 F1-F24 检测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项安全检查 C1-C8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四维评分 + 基线对比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提问优化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5 大提问模板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竞赛场景智能匹配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陷阱识别 + 问题重写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6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作业评估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8 题型差异化评分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红线规则 D1=0→归零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错因归因 + 改进计划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三维评估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技术规范 T1-T5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教育引导 E1-E4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法律保障 L1-L4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1691640"/>
            <a:ext cx="2139696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18470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2286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16355C"/>
                </a:solidFill>
                <a:latin typeface="微软雅黑"/>
                <a:ea typeface="微软雅黑"/>
              </a:rPr>
              <a:t>教学合规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78892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覆盖率核验 ≥80%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缺失知识点清单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大纲修订建议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检测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06624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纠正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0328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0328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14032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评分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6" y="4617720"/>
            <a:ext cx="1536192" cy="603504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4645152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8815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报告面板：一键生成"数字案卷"式全链路可视化（零依赖、离线可用），路演评审演示利器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模块A：AI 法律回答审核与纠正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F1-F10　通用模式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法条幻视、罪名定性降维、量刑乐观偏差… 来自 14 案例实证测评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72968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337560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F11-F18　题型特化模式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选项混淆偏误、采分点遗漏、三段论结构缺失… 按 2022-2025 法考真题校准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54296"/>
            <a:ext cx="6903720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818888"/>
            <a:ext cx="6501383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F19-F24　教信赛场景模式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试题歧义偏差、评分尺度偏移、答案格式违规、跨题一致性破裂、采分点粒度失当、教学大纲合规偏离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91640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856232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failure_detector.py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24 模式逐项检测，输出概率 / 严重度 / 检测依据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081528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246120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correction_engine.py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实证依据 + 修正方向 + 替代表述，命中即纠正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471416"/>
            <a:ext cx="4050791" cy="12070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636008"/>
            <a:ext cx="36484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safety_checker.py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C1-C8 安全检查，输出通过率 + 总体风险等级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120640"/>
            <a:ext cx="4050791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5285231"/>
            <a:ext cx="3648456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四维评分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准确 / 时效 / 逻辑 / 引导，对照实证基线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016752"/>
            <a:ext cx="107259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审核输出：单次推理 &lt;2000 token，确定性规则引擎保证可复现、可审计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模块B：提问优化与模板推荐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陷阱：废止法律引用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用户引用已废止《民法通则》，AI 未纠正 → 推荐"法条验证型"模板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陷阱：量刑预测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误差可达 71%（实证）→ 推荐"案例对比型 / 多假设追问型"模板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陷阱：未验证前提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AI 天然相信用户输入 → 推荐"前提挑战型"模板前置校验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T1 法条验证型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现行有效性验证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T2 案例对比型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判例对照分析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0056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T3 多假设追问型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多角度推演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T4 前提挑战型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前提前置校验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7192" y="3611880"/>
            <a:ext cx="2139696" cy="118872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374903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16355C"/>
                </a:solidFill>
                <a:latin typeface="微软雅黑"/>
                <a:ea typeface="微软雅黑"/>
              </a:rPr>
              <a:t>T5 实操指引型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409651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可执行步骤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20640"/>
            <a:ext cx="11183112" cy="123444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9512"/>
            <a:ext cx="10725912" cy="996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教信赛场景智能匹配（v4.1）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教学大纲审核 → [T1+T4+T5]；考试设计 → [T3+T5]；评分一致性 → [T5+T4]　|　实证：R2 角色扮演测试中引导性提升 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模块C：法学作业评估与评分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单项选择题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9384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9384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多项选择题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判断题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名词解释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简答题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论述题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法条分析题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8168" y="1737360"/>
            <a:ext cx="1280160" cy="530352"/>
          </a:xfrm>
          <a:prstGeom prst="roundRect">
            <a:avLst>
              <a:gd name="adj" fmla="val 25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88168" y="17647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案例分析题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五维加权评分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D1 法律依据准确性 30% · D2 论证逻辑 25% · D3 法理深度 20% · D4 实务操作性 15% · D5 学术规范 10%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红线规则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D1=0 → 总分归零；F24 教学合规偏离 → 大纲审核不通过；F1 命中 → D1 归零（统一口径）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失效同步检测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作业内嵌 24 模式检测：错因归因 + 个性化改进计划，作业即"诊断"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606040"/>
            <a:ext cx="2724912" cy="2240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2770632"/>
            <a:ext cx="2322576" cy="1911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校准保障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2022-2025 法考真题校准；评分可复现（同一输入偏差 ≤0.2 分）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12080"/>
            <a:ext cx="11183112" cy="105156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30952"/>
            <a:ext cx="10725912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使用方式：作业.docx 一键出分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对话：粘贴作业 → 8 题型自动识别 + 差异化评分 + 红线判定 + 改进计划；支持批量答案键验证（answer_key_evaluator）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模块D：三维规制评估 + 模块E：教学大纲合规审核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技术规范 T1-T5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模型能力边界、免责声明、可追溯性等合规要求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44952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209544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教育引导 E1-E4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学习导向、风险警示设计、教学伦理引导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98264"/>
            <a:ext cx="6903720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562856"/>
            <a:ext cx="6501383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法律保障 L1-L4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数据安全、隐私保护、法律责任边界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91640"/>
            <a:ext cx="4050791" cy="3401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856232"/>
            <a:ext cx="3648456" cy="3072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模块E：教学大纲 AI 合规审核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核验：教育部法学类国家标准 · 八大领域 · 18 个必授知识点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阈值：核心知识点覆盖率 ≥80%（F24）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输出：覆盖率报告 + 缺失知识点清单 + 大纲修订建议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49240"/>
            <a:ext cx="11183112" cy="9601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68112"/>
            <a:ext cx="1072591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谁在用？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教务管理者 / 教师：上传大纲 → F24 检测 → 合规报告；AI 工具开发者：评估工具合规性 → T/E/L 雷达图 + 改进路线图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02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四层模块化架构 · 数据与逻辑完全解耦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输出模板层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templates/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293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 个模板：渲染最终报告与"数字案卷"式可视化面板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60904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逻辑编排层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98648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技能意图路由、模块调度、场景门控（题型特化/教信赛场景）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30168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9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脚本引擎层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scripts/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6791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15 个 Python 脚本：检测 / 纠正 / 安全 / 评分 / 检索 / 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9432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知识库层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3834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C9A227"/>
                </a:solidFill>
                <a:latin typeface="微软雅黑"/>
                <a:ea typeface="微软雅黑"/>
              </a:rPr>
              <a:t>reference/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837176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9 个 JSON 知识库：规则、基线、课程要求、案例库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91640"/>
            <a:ext cx="4050791" cy="379476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847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数据流（一次完整审核）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267712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2951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用户输入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715768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2743199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模块入口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163824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1912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知识库加载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61188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363931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脚本执行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059936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40873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JSON 结果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507992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5354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微软雅黑"/>
                <a:ea typeface="微软雅黑"/>
              </a:rPr>
              <a:t>模板渲染 → 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029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</a:rPr>
              <a:t>层间以 JSON 标准接口通信；知识库独立于脚本，可直接替换、热更新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25312"/>
            <a:ext cx="107259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架构价值：新增失效模式只需在知识库注册（candidate_patterns），无需改动引擎代码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技术实现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国产模型基座 + AI 龙虾智能体平台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36092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63240"/>
                <a:gridCol w="42976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模型（国产）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 Skill 中的角色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Qwen3-Next-80B（推理）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失效检测 / 纠正生成 / 评分 / 大纲审核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Qwen3-Embedding-8B（嵌入）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语义检索与案例召回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Qwen3-Reranker-8B（重排）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检索候选精排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Qwen3-VL-32B（多模态）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试卷 / 课件图像理解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Qwen3-ASR（语音识别）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课堂问答转写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Qwen3-TTS（语音合成）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教学反馈播报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737360"/>
            <a:ext cx="3593592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3608" y="1901952"/>
            <a:ext cx="31912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AI 龙虾智能体平台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Skill 上传 → 自动激活 → 技能编排；平台账号 + 智算资源在线分配。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593592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3685032"/>
            <a:ext cx="31912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国产算力环境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基于国产芯片的算力环境，保障每支队伍模型调用与评测资源。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轻量 &amp; 可控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单次审核推理开销 &lt;2000 token；知识库 JSON 本地维护；确定性规则引擎保证结果可复现、可审计。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创新点一：实证驱动的失效模式知识库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83112" cy="132588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10725912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实证基线 = 不可修改的校准锚点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14 案例 × 2 轮 × 4 维实测数据（DeepSeek 3.84 vs 千问 3.06）；所有纠正建议必须引用实证证据 —— 拒绝"模型直觉"，只相信"测出来的结论"。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429000"/>
          <a:ext cx="69037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429000"/>
                <a:gridCol w="2377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实证意义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检测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24 模式知识库（severity / frequency / evidence / 关键词）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每条模式均有实证证据字段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实证依据 + 修正方向 + 替代表述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纠正建议可溯源、可审计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评分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四维评分对照 DS / 千问基线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评分可校准（竞赛铁律）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429000"/>
            <a:ext cx="4050791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3593592"/>
            <a:ext cx="3648456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>
                <a:solidFill>
                  <a:srgbClr val="16355C"/>
                </a:solidFill>
                <a:latin typeface="微软雅黑"/>
                <a:ea typeface="微软雅黑"/>
              </a:rPr>
              <a:t>校准成果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虚构法律识别：千问基线 0% → LG 目标 100%（≥95%）；综合校准评级 C → A，评分可复现偏差 ≤0.2 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68112"/>
            <a:ext cx="1072591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链路要求：检测有证据、纠正有依据、评分有对照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全流程可溯源、可审计 —— 实证基线既是"校准锚点"，也是评委可核验的"证据链"。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创新点二：题型特化 + 场景门控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503834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题型特化模式 F11-F18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每个题型绑定专属失效模式：单项选择 → 选项混淆偏误；简答 → 采分点遗漏；案例分析 → 三段论结构缺失… 按法考真题（2022-2025）逐题型校准。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544068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142231"/>
            <a:ext cx="5038344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场景门控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教信赛场景模式 F19-F24 仅在对应场景触发（试题歧义 / 评分偏移 / 格式违规 / 跨题矛盾 / 粒度失当 / 合规偏离），干净样本误报 7 → 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85623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7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干净样本误报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15468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31927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题型识别（16/16）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617720"/>
            <a:ext cx="4050791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78231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C9A227"/>
                </a:solidFill>
                <a:latin typeface="微软雅黑"/>
                <a:ea typeface="微软雅黑"/>
              </a:rPr>
              <a:t>C →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16355C"/>
                </a:solidFill>
                <a:latin typeface="微软雅黑"/>
                <a:ea typeface="微软雅黑"/>
              </a:rPr>
              <a:t>综合校准评级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红线统一（v4.3.0）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F1 命中即 D1 归零；题型识别 5 处规则修复；确定性与可复现性优先。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创新点三：案例库确定性检索 + 三维规制评估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40680" cy="2331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5038344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5,515 案例库 · 确定性检索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来源：人民法院案例库真实判例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机制：确定性关键词检索（rag_retriever），命中即返回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价值：零幻觉、可复现、本地离线运行；每条纠正建议可挂接真实判例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06240"/>
            <a:ext cx="544068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370831"/>
            <a:ext cx="5038344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三维规制评估器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技术 T1-T5 / 教育 E1-E4 / 法律 L1-L4 逐项状态评估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输出：逐项状态 + 雷达图 + 改进路线图；适用 AI 法律工具合规自评与整改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050791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856232"/>
            <a:ext cx="3648456" cy="405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报告面板（"数字案卷"式可视化）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风险印章 · 失效模式 · 纠正建议 · 安全检查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四维评分 · 作业评估 · 提问优化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案例检索 · 三维规制全景视图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零依赖、离线可用；支持打印 / 导出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04 技术创新点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知识库创新：数据-逻辑分离的 9 大 JSON 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63524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210312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知识库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关键要点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failure_patterns.json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24 大失效模式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严重度 / 频次 / 现象 / 实证证据 / 纠正策略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curriculum_requirements.json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教育部课程要求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八大领域 · 18 必授知识点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test_baseline.json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实证基线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DS 3.84 vs 千问 3.06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correction_templates.json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5 大提问模板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含场景匹配规则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safety_checklist.json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 项安全检查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C1-C8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three_d_regulation.json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三维规制路径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T1-T5 / E1-E4 / L1-L4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question_type_rubrics.json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8 题型评分标准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差异化评分规则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assignment_rubric.json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五维评分标准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D1 法律依据 30%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legal_knowledge_base.json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法条 + 废止预警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可直接编辑更新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349240"/>
            <a:ext cx="11183112" cy="9601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68112"/>
            <a:ext cx="1072591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可插拔扩展机制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candidate_patterns 字段一键注册新模式；知识库与脚本零耦合 —— 更新知识、增长能力无需修改引擎代码。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场景一：智慧教学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教学大纲 AI 合规审核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上传大纲 → F24 检测 → 覆盖率（≥80%）+ 缺失知识点清单 + 修订建议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输出：覆盖率报告 + 缺失清单 + 修订建议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多模态作业智能批改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8 题型评分 + 红线判定 + 错因归因 + 改进计划；法条准确性 30% 权重把控质量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支持 .docx 一键导入与批量答案键验证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智能考试全流程管理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试题歧义（F19）/ 评分偏移（F20）/ 跨题一致（F22）检测 + 答案键验证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输出：试题质量报告 + 评分一致性分析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教师价值：从"经验判断"到"数据校准"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备课减负：大纲合规一键核查；评分一致：红线规则统一尺度；标准可查：教育部必授知识点逐条对照 —— 让 AI 批改、审核结果为教师所用，而非替代教师。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场景二：智慧学习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全天候 AI 学伴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学生提问前先"体检"：审核 AI 回答（24 模式）+ 安全提示 + 引导纠正，24 小时可用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覆盖法学生与非专业用户差异化风险响应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提问优化训练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5 大模板教学生"正确提问"，实证引导性提升 40%；失效模式识别训练融入日常练习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24 种失效模式案例化，可嵌入法学课堂实验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非专业用户防护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醒目风险警示 + "不替代律师"角色边界 + 律师咨询引导 —— 差异化风险响应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输出：安全等级 + 人工核实标注项（C6）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学习价值：从"被动接受"到"主动验证"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训练法律 AI 时代的核心素养：识别失效模式、验证法条现行性、交叉校验观点 —— 把风险教育转化为能力培养。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05 教育应用场景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场景三：智慧评价与智慧科研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教学质量多维评价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作业 + 考试 + 大纲多源数据；四维评分对照实证基线，评价有标尺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为课程目标达成度与持续改进提供数据依据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教学合规与标准审核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课程大纲 / 课程标准 AI 合规审核（F24），课程目标达成度评估支撑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对接教育部法学类国家标准（18 必授知识点）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3" y="1691640"/>
            <a:ext cx="3639312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856232"/>
            <a:ext cx="3236976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法律 AI 合规预审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三维规制评估：AI 工具 / 系统合规性自查与伦理预审辅助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输出：T/E/L 逐项状态 + 整改路线图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72591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评价价值：评价有标尺、教学有依据、合规有记录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对接教信赛三类方向：智慧教学、智慧学习、智慧评价 —— 以同一套实证引擎贯通"教 - 学 - 评 - 规"。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03 技术实现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安全与合规：8 项检查 + 红线规则 + 本地化运行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C1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法条来源核对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737360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3" y="187451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C2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罪名反向思考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62432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C3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量刑风险边界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487168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3" y="262432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C4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多平台交叉验证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36976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374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C5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遗漏争点排查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3236976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3" y="33741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C6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人工核实标注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86783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23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C7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不替代律师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986783"/>
            <a:ext cx="3639312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3" y="4123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/>
            </a:r>
            <a:r>
              <a:rPr sz="1000" b="1">
                <a:solidFill>
                  <a:srgbClr val="C9A227"/>
                </a:solidFill>
                <a:latin typeface="微软雅黑"/>
                <a:ea typeface="微软雅黑"/>
              </a:rPr>
              <a:t>C8</a:t>
            </a:r>
            <a:r>
              <a:rPr sz="1100" b="1">
                <a:solidFill>
                  <a:srgbClr val="16355C"/>
                </a:solidFill>
                <a:latin typeface="微软雅黑"/>
                <a:ea typeface="微软雅黑"/>
              </a:rPr>
              <a:t>  计算一致性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737360"/>
            <a:ext cx="3593592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901952"/>
            <a:ext cx="3191256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红线规则（统一口径）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D1=0 → 作业总分归零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F24 教学合规偏离 → 大纲审核不通过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F1 虚构法条命中 → D1 归零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11183112" cy="621792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7959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6355C"/>
                </a:solidFill>
                <a:latin typeface="微软雅黑"/>
                <a:ea typeface="微软雅黑"/>
              </a:rPr>
              <a:t>角色边界（合规声明）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本 Skill 不替代律师 / 教师，不做终局性法律判断；所有输出标注需人工核实项（C6）。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实施效果：性能实测与可靠性指标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7" y="118872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数据来源：2026-08-05 基准测试与全量校准（Qwen3 基座）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644652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97480"/>
                <a:gridCol w="1600200"/>
                <a:gridCol w="2148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操作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实测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失效模式检测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纠正建议生成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≤10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≤8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安全检查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≤2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作业评估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≤60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≤45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全流程审核链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≤45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≤30 秒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教学合规审核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≤30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≤20 秒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965960"/>
            <a:ext cx="423367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3528" y="2130552"/>
            <a:ext cx="383133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可靠性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题型识别 100%（16/16）· F1-F24 全覆盖 · 命中即纠正 100% · 评分偏差 ≤0.2 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721608"/>
            <a:ext cx="4233672" cy="15727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3886200"/>
            <a:ext cx="383133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16355C"/>
                </a:solidFill>
                <a:latin typeface="微软雅黑"/>
                <a:ea typeface="微软雅黑"/>
              </a:rPr>
              <a:t>工程质量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全量冒烟测试 41 项 0 FAIL（2026-08-19）；综合校准评级 A（全量 26 项）；安装包 14MB → 0.16MB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32120"/>
            <a:ext cx="11183112" cy="82296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72591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可复现性声明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确定性规则引擎 + 本地知识库：同一输入、同一输出 —— 满足大赛"评分可复现、校准可对照"要求。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500" b="1">
                <a:solidFill>
                  <a:srgbClr val="16355C"/>
                </a:solidFill>
                <a:latin typeface="微软雅黑"/>
                <a:ea typeface="微软雅黑"/>
              </a:rPr>
              <a:t>实施效果：四维实证对比 —— 从"能用"到"可信"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078992"/>
            <a:ext cx="12344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74519"/>
          <a:ext cx="763524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965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DS 基线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千问基线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LG 目标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提升</a:t>
                      </a:r>
                    </a:p>
                  </a:txBody>
                  <a:tcPr marL="91440" marR="73152" marT="18288" marB="18288" anchor="ctr">
                    <a:solidFill>
                      <a:srgbClr val="1635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准确性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4.03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3.49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≥4.5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+0.47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时效性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4.69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4.13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≥4.5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−0.19（保守）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逻辑性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3.66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2.93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+0.34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引导性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2.96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1.70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≥3.0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+0.04</a:t>
                      </a:r>
                    </a:p>
                  </a:txBody>
                  <a:tcPr marL="91440" marR="73152" marT="18288" marB="18288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综合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3.84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3.06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≥4.0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+0.16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874519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7928" y="2039112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正确性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虚构法条识别 0% → ≥95%（目标 100%）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118104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3282696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可复现性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确定性规则，命题级可复现（偏差 ≤0.2 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61688"/>
            <a:ext cx="3319272" cy="107899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4526280"/>
            <a:ext cx="291693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可用性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微软雅黑"/>
                <a:ea typeface="微软雅黑"/>
              </a:rPr>
              <a:t>报告面板零依赖即开即用，教师 / 教务直接上手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3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59552"/>
            <a:ext cx="1072591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16355C"/>
                </a:solidFill>
                <a:latin typeface="微软雅黑"/>
                <a:ea typeface="微软雅黑"/>
              </a:rPr>
              <a:t>价值总结：把"AI 法律输出风险"转化为"可量化、可干预、可改进"的教育质量资产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</a:rPr>
              <a:t>五模块闭环覆盖 AI 法律工具全生命周期：事前（提问优化）· 事中（审核纠正）· 事后（作业评估 / 合规审核）。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</a:rPr>
              <a:t>06 实施效果与展望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74519"/>
            <a:ext cx="146304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知识图谱自适应学习与推荐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多模态作业批改（Qwen3-VL）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学情画像与教学预警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240280"/>
            <a:ext cx="2514600" cy="603504"/>
          </a:xfrm>
          <a:prstGeom prst="roundRect">
            <a:avLst>
              <a:gd name="adj" fmla="val 25000"/>
            </a:avLst>
          </a:prstGeom>
          <a:solidFill>
            <a:srgbClr val="254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2677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E8ECF4"/>
                </a:solidFill>
                <a:latin typeface="微软雅黑"/>
                <a:ea typeface="微软雅黑"/>
              </a:rPr>
              <a:t>数字人微课与语音互动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C7D1E2"/>
                </a:solidFill>
                <a:latin typeface="微软雅黑"/>
                <a:ea typeface="微软雅黑"/>
              </a:rPr>
              <a:t>依托 Qwen3 全系模型能力持续进化：Qwen3-VL 理解试卷与课件图像、Qwen3-ASR/TTS 支撑语音互动学伴、Qwen3-Embedding + Reranker 扩展知识图谱自适应路径 —— 从"审核工具"成长为"教 · 学 · 评 · 规"一体的智慧教育基础设施。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61772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谢谢聆听 · 恳请各位评委专家指正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A7B4C8"/>
                </a:solidFill>
                <a:latin typeface="微软雅黑"/>
                <a:ea typeface="微软雅黑"/>
              </a:rPr>
              <a:t>西南民族大学法学院参赛团队　|　LegalGuardian v4.3.0　|　AI 龙虾智能体平台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AA3B2"/>
                </a:solidFill>
                <a:latin typeface="微软雅黑"/>
                <a:ea typeface="微软雅黑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